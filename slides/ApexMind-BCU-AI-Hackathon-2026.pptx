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embeddedFontLst>
    <p:embeddedFont>
      <p:font typeface="Alexandria Light" pitchFamily="2" charset="-78"/>
      <p:regular r:id="rId6"/>
    </p:embeddedFont>
    <p:embeddedFont>
      <p:font typeface="Alexandria SemiBold" pitchFamily="2" charset="-78"/>
      <p:regular r:id="rId7"/>
      <p:bold r:id="rId8"/>
    </p:embeddedFont>
    <p:embeddedFont>
      <p:font typeface="Sora Light" pitchFamily="2" charset="0"/>
      <p:regular r:id="rId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4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176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viewProps" Target="viewProps.xml"/><Relationship Id="rId5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9583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tejiri-code/BCU-AI-Hackathon-2026/tree/apexmin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398934"/>
            <a:ext cx="7052593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ApexMind — BCU AI Hackathon 2026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3943" y="1115169"/>
            <a:ext cx="470446" cy="254422"/>
          </a:xfrm>
          <a:prstGeom prst="roundRect">
            <a:avLst>
              <a:gd name="adj" fmla="val 17883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55129" y="1155725"/>
            <a:ext cx="765274" cy="173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TEAM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73943" y="1521916"/>
            <a:ext cx="8653314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Team Members:</a:t>
            </a: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ApexMind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73943" y="1890936"/>
            <a:ext cx="1428973" cy="263947"/>
          </a:xfrm>
          <a:prstGeom prst="roundRect">
            <a:avLst>
              <a:gd name="adj" fmla="val 17238"/>
            </a:avLst>
          </a:prstGeom>
          <a:noFill/>
          <a:ln w="4763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59891" y="1936254"/>
            <a:ext cx="1714277" cy="173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1A2D7A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MODELS &amp; HARDWARE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73943" y="2307208"/>
            <a:ext cx="8196114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All models open-source, ≤ 8B, GGUF via local llama.cpp OpenAI-compatible server on RTX 4060 (8 GB). Primary reasoner: Qwen3-8B (Q4_K_M, 8B). Ensemble voters: Qwen3-4B-Instruct-2507 and Qwen3.5-4B (4B each). Embeddings: Qwen3-Embedding-0.6B. Reranker: bge-reranker-v2-m3 (0.6B).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3943" y="3109615"/>
            <a:ext cx="745108" cy="263947"/>
          </a:xfrm>
          <a:prstGeom prst="roundRect">
            <a:avLst>
              <a:gd name="adj" fmla="val 17238"/>
            </a:avLst>
          </a:prstGeom>
          <a:noFill/>
          <a:ln w="4763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59891" y="3154933"/>
            <a:ext cx="1030412" cy="173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1A2D7A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STRATEGY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73943" y="3525887"/>
            <a:ext cx="8196114" cy="433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 reproducible, Wikipedia-grounded RAG pipeline with confidence scoring and multi-model ensemble voting — run entirely locally.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943" y="4111600"/>
            <a:ext cx="1212726" cy="263947"/>
          </a:xfrm>
          <a:prstGeom prst="roundRect">
            <a:avLst>
              <a:gd name="adj" fmla="val 17238"/>
            </a:avLst>
          </a:prstGeom>
          <a:noFill/>
          <a:ln w="4763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59891" y="4156918"/>
            <a:ext cx="1498029" cy="173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1A2D7A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INTERNET SEARCH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73943" y="4527872"/>
            <a:ext cx="8653314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Yes — Wikipedia MediaWiki API (primary) + DuckDuckGo (web supplement).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1098872"/>
            <a:ext cx="4020666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Method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3943" y="1815108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Light" pitchFamily="34" charset="0"/>
                <a:ea typeface="Alexandria Light" pitchFamily="34" charset="-122"/>
                <a:cs typeface="Alexandria Light" pitchFamily="34" charset="-120"/>
              </a:rPr>
              <a:t>01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73943" y="2026072"/>
            <a:ext cx="4030340" cy="1905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73943" y="2131814"/>
            <a:ext cx="178169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Evidence Source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3943" y="2435647"/>
            <a:ext cx="4030340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Wikipedia primary + DuckDuckGo supplement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639642" y="1815108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Light" pitchFamily="34" charset="0"/>
                <a:ea typeface="Alexandria Light" pitchFamily="34" charset="-122"/>
                <a:cs typeface="Alexandria Light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39642" y="2026072"/>
            <a:ext cx="4030414" cy="1905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39642" y="2131814"/>
            <a:ext cx="2933551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Embedding / Retrieval / Ranking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39642" y="2435647"/>
            <a:ext cx="4030414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Entity queries → cached retrieval → rerank → top passages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3943" y="2889200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Light" pitchFamily="34" charset="0"/>
                <a:ea typeface="Alexandria Light" pitchFamily="34" charset="-122"/>
                <a:cs typeface="Alexandria Light" pitchFamily="34" charset="-120"/>
              </a:rPr>
              <a:t>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943" y="3100164"/>
            <a:ext cx="4030340" cy="1905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3943" y="3205907"/>
            <a:ext cx="179025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Prompting Strategy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3943" y="3509739"/>
            <a:ext cx="4030340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Question + options + evidence → deterministic answer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639642" y="2889200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Light" pitchFamily="34" charset="0"/>
                <a:ea typeface="Alexandria Light" pitchFamily="34" charset="-122"/>
                <a:cs typeface="Alexandria Light" pitchFamily="34" charset="-120"/>
              </a:rPr>
              <a:t>04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39642" y="3100164"/>
            <a:ext cx="4030414" cy="1905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39642" y="3205907"/>
            <a:ext cx="178169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39642" y="3509739"/>
            <a:ext cx="4030414" cy="433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Confidence scoring → escalation → verification → submission check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91071" y="409947"/>
            <a:ext cx="2944713" cy="30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Results &amp; Reflection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1191071" y="844153"/>
            <a:ext cx="623367" cy="156344"/>
          </a:xfrm>
          <a:prstGeom prst="roundRect">
            <a:avLst>
              <a:gd name="adj" fmla="val 20008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246882" y="872058"/>
            <a:ext cx="968946" cy="100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5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FINAL SCORE</a:t>
            </a:r>
            <a:endParaRPr lang="en-US" sz="550" dirty="0"/>
          </a:p>
        </p:txBody>
      </p:sp>
      <p:sp>
        <p:nvSpPr>
          <p:cNvPr id="5" name="Text 3"/>
          <p:cNvSpPr/>
          <p:nvPr/>
        </p:nvSpPr>
        <p:spPr>
          <a:xfrm>
            <a:off x="1191071" y="1118964"/>
            <a:ext cx="3340894" cy="3072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90%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249016" y="1520726"/>
            <a:ext cx="1224930" cy="153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Closed-book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611960" y="1118964"/>
            <a:ext cx="3340894" cy="3072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100%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669905" y="1520726"/>
            <a:ext cx="1224930" cy="153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RAG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91071" y="1848296"/>
            <a:ext cx="3340894" cy="3072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100%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249016" y="2250058"/>
            <a:ext cx="1224930" cy="153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RAG + confidence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11960" y="1848296"/>
            <a:ext cx="3340894" cy="3072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100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649962" y="2250058"/>
            <a:ext cx="1264816" cy="153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Questions answered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11960" y="2441525"/>
            <a:ext cx="3340894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All 100, including 1 Unknown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191071" y="2639095"/>
            <a:ext cx="1235943" cy="156344"/>
          </a:xfrm>
          <a:prstGeom prst="roundRect">
            <a:avLst>
              <a:gd name="adj" fmla="val 20008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246882" y="2667000"/>
            <a:ext cx="1581522" cy="100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5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MOST USEFUL IMPROVEMENT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1191071" y="2867397"/>
            <a:ext cx="6761783" cy="412849"/>
          </a:xfrm>
          <a:prstGeom prst="roundRect">
            <a:avLst>
              <a:gd name="adj" fmla="val 9471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163" y="2987948"/>
            <a:ext cx="116309" cy="93092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93565" y="2948211"/>
            <a:ext cx="6366197" cy="2512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Wikipedia-grounded retrieval — adds +10 points over model alone by grounding the 8B reasoner in Wikipedia evidence with cross-encoder reranking and ensemble/confidence escalation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1191071" y="3352205"/>
            <a:ext cx="933896" cy="156344"/>
          </a:xfrm>
          <a:prstGeom prst="roundRect">
            <a:avLst>
              <a:gd name="adj" fmla="val 20008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246882" y="3380110"/>
            <a:ext cx="1279475" cy="100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5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KNOWN LIMITATIONS</a:t>
            </a:r>
            <a:endParaRPr lang="en-US" sz="550" dirty="0"/>
          </a:p>
        </p:txBody>
      </p:sp>
      <p:sp>
        <p:nvSpPr>
          <p:cNvPr id="21" name="Text 18"/>
          <p:cNvSpPr/>
          <p:nvPr/>
        </p:nvSpPr>
        <p:spPr>
          <a:xfrm>
            <a:off x="1191071" y="3580507"/>
            <a:ext cx="6761783" cy="717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3000"/>
              </a:lnSpc>
              <a:buSzPct val="100000"/>
              <a:buChar char="•"/>
            </a:pPr>
            <a:r>
              <a:rPr lang="en-US" sz="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No official answer key, so accuracy is a gold-set estimate</a:t>
            </a:r>
            <a:endParaRPr lang="en-US" sz="700" dirty="0"/>
          </a:p>
          <a:p>
            <a:pPr marL="342900" indent="-342900" algn="l">
              <a:lnSpc>
                <a:spcPct val="113000"/>
              </a:lnSpc>
              <a:buSzPct val="100000"/>
              <a:buChar char="•"/>
            </a:pPr>
            <a:r>
              <a:rPr lang="en-US" sz="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8 GB VRAM forces one-model-at-a-time staging</a:t>
            </a:r>
            <a:endParaRPr lang="en-US" sz="700" dirty="0"/>
          </a:p>
          <a:p>
            <a:pPr marL="342900" indent="-342900" algn="l">
              <a:lnSpc>
                <a:spcPct val="113000"/>
              </a:lnSpc>
              <a:buSzPct val="100000"/>
              <a:buChar char="•"/>
            </a:pPr>
            <a:r>
              <a:rPr lang="en-US" sz="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DuckDuckGo rate-limiting, mitigated by caching</a:t>
            </a:r>
            <a:endParaRPr lang="en-US" sz="700" dirty="0"/>
          </a:p>
          <a:p>
            <a:pPr marL="342900" indent="-342900" algn="l">
              <a:lnSpc>
                <a:spcPct val="113000"/>
              </a:lnSpc>
              <a:buSzPct val="100000"/>
              <a:buChar char="•"/>
            </a:pPr>
            <a:r>
              <a:rPr lang="en-US" sz="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Qwen3-8B sits at the 8B cap</a:t>
            </a:r>
            <a:endParaRPr lang="en-US" sz="700" dirty="0"/>
          </a:p>
          <a:p>
            <a:pPr marL="342900" indent="-342900" algn="l">
              <a:lnSpc>
                <a:spcPct val="113000"/>
              </a:lnSpc>
              <a:buSzPct val="100000"/>
              <a:buChar char="•"/>
            </a:pPr>
            <a:r>
              <a:rPr lang="en-US" sz="7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5 questions needed manual verification; Q79 answered Unknown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1191071" y="4370115"/>
            <a:ext cx="348779" cy="165869"/>
          </a:xfrm>
          <a:prstGeom prst="roundRect">
            <a:avLst>
              <a:gd name="adj" fmla="val 18859"/>
            </a:avLst>
          </a:prstGeom>
          <a:noFill/>
          <a:ln w="4763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1251645" y="4402782"/>
            <a:ext cx="684833" cy="100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550" dirty="0">
                <a:solidFill>
                  <a:srgbClr val="1A2D7A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CODE</a:t>
            </a:r>
            <a:endParaRPr lang="en-US" sz="550" dirty="0"/>
          </a:p>
        </p:txBody>
      </p:sp>
      <p:sp>
        <p:nvSpPr>
          <p:cNvPr id="24" name="Text 21"/>
          <p:cNvSpPr/>
          <p:nvPr/>
        </p:nvSpPr>
        <p:spPr>
          <a:xfrm>
            <a:off x="1191071" y="4607942"/>
            <a:ext cx="7218983" cy="125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700" u="sng" dirty="0">
                <a:solidFill>
                  <a:srgbClr val="1A2D7A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https://github.com/tejiri-code/BCU-AI-Hackathon-2026/tree/apexmind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1A2D7A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262</Words>
  <Application>Microsoft Macintosh PowerPoint</Application>
  <PresentationFormat>On-screen Show (16:9)</PresentationFormat>
  <Paragraphs>46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Sora Light</vt:lpstr>
      <vt:lpstr>Alexandria SemiBold</vt:lpstr>
      <vt:lpstr>Alexandria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evelyn edjere</cp:lastModifiedBy>
  <cp:revision>2</cp:revision>
  <dcterms:created xsi:type="dcterms:W3CDTF">2026-06-19T13:46:01Z</dcterms:created>
  <dcterms:modified xsi:type="dcterms:W3CDTF">2026-06-19T13:46:59Z</dcterms:modified>
</cp:coreProperties>
</file>