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1F3A"/>
                </a:solidFill>
              </a:rPr>
              <a:t>Team Apexmind</a:t>
            </a:r>
          </a:p>
          <a:p>
            <a:r>
              <a:rPr sz="2600">
                <a:solidFill>
                  <a:srgbClr val="1E88E5"/>
                </a:solidFill>
              </a:rPr>
              <a:t>Local RAG pipeline for 100-question multiple-choice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0B1F3A"/>
                </a:solidFill>
              </a:rPr>
              <a:t>BCU AI Hackathon 2026</a:t>
            </a:r>
          </a:p>
          <a:p>
            <a:pPr/>
            <a:r>
              <a:rPr sz="2000">
                <a:solidFill>
                  <a:srgbClr val="0B1F3A"/>
                </a:solidFill>
              </a:rPr>
              <a:t>Model: qwen2.5:7b  (7B parameters — within the ≤ 8B rule)</a:t>
            </a:r>
          </a:p>
          <a:p>
            <a:pPr/>
            <a:r>
              <a:rPr sz="2000">
                <a:solidFill>
                  <a:srgbClr val="0B1F3A"/>
                </a:solidFill>
              </a:rPr>
              <a:t>Fully local &amp; reproducible — no cloud LLM used to answer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1F3A"/>
                </a:solidFill>
              </a:rPr>
              <a:t>Method —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1F3A"/>
                </a:solidFill>
              </a:rPr>
              <a:t>1. Query construction — natural-language question + keyword-only query</a:t>
            </a:r>
          </a:p>
          <a:p>
            <a:pPr/>
            <a:r>
              <a:rPr sz="1800">
                <a:solidFill>
                  <a:srgbClr val="0B1F3A"/>
                </a:solidFill>
              </a:rPr>
              <a:t>2. Retrieval — Wikipedia MediaWiki API (question set is Wikipedia-sourced)</a:t>
            </a:r>
          </a:p>
          <a:p>
            <a:pPr lvl="1"/>
            <a:r>
              <a:rPr sz="1800">
                <a:solidFill>
                  <a:srgbClr val="0B1F3A"/>
                </a:solidFill>
              </a:rPr>
              <a:t>intro extracts for top hits + full article text for the 2 best-matching titles</a:t>
            </a:r>
          </a:p>
          <a:p>
            <a:pPr lvl="1"/>
            <a:r>
              <a:rPr sz="1800">
                <a:solidFill>
                  <a:srgbClr val="0B1F3A"/>
                </a:solidFill>
              </a:rPr>
              <a:t>throttled with exponential backoff on HTTP 429; DuckDuckGo fallback</a:t>
            </a:r>
          </a:p>
          <a:p>
            <a:pPr/>
            <a:r>
              <a:rPr sz="1800">
                <a:solidFill>
                  <a:srgbClr val="0B1F3A"/>
                </a:solidFill>
              </a:rPr>
              <a:t>3. Ranking — split into paragraphs, BM25 vs question+options</a:t>
            </a:r>
          </a:p>
          <a:p>
            <a:pPr lvl="1"/>
            <a:r>
              <a:rPr sz="1800">
                <a:solidFill>
                  <a:srgbClr val="0B1F3A"/>
                </a:solidFill>
              </a:rPr>
              <a:t>+ title-match boost: favour the article whose title echoes the question</a:t>
            </a:r>
          </a:p>
          <a:p>
            <a:pPr/>
            <a:r>
              <a:rPr sz="1800">
                <a:solidFill>
                  <a:srgbClr val="0B1F3A"/>
                </a:solidFill>
              </a:rPr>
              <a:t>4. RAG prompt — question + options + top-7 passages</a:t>
            </a:r>
          </a:p>
          <a:p>
            <a:pPr/>
            <a:r>
              <a:rPr sz="1800">
                <a:solidFill>
                  <a:srgbClr val="0B1F3A"/>
                </a:solidFill>
              </a:rPr>
              <a:t>5. Answer — qwen2.5:7b (Ollama), temperature 0, returns a single letter A–E</a:t>
            </a:r>
          </a:p>
          <a:p>
            <a:pPr/>
            <a:r>
              <a:rPr sz="1800">
                <a:solidFill>
                  <a:srgbClr val="0B1F3A"/>
                </a:solidFill>
              </a:rPr>
              <a:t>6. Fallback — if the model abstains, choose the option best matching evidence</a:t>
            </a:r>
          </a:p>
          <a:p>
            <a:pPr/>
            <a:r>
              <a:rPr sz="1800">
                <a:solidFill>
                  <a:srgbClr val="0B1F3A"/>
                </a:solidFill>
              </a:rPr>
              <a:t>7. Validate &amp; export — Apexmind_submission.csv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1F3A"/>
                </a:solidFill>
              </a:rPr>
              <a:t>Results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1F3A"/>
                </a:solidFill>
              </a:rPr>
              <a:t>Coverage: 100/100 answered — 96 via LLM, 4 via evidence fallback, 0 Unknown</a:t>
            </a:r>
          </a:p>
          <a:p>
            <a:pPr/>
            <a:r>
              <a:rPr sz="1800">
                <a:solidFill>
                  <a:srgbClr val="0B1F3A"/>
                </a:solidFill>
              </a:rPr>
              <a:t>Deterministic decoding (temperature 0) + cached evidence → repeatable runs</a:t>
            </a:r>
          </a:p>
          <a:p>
            <a:pPr/>
            <a:r>
              <a:rPr sz="1800">
                <a:solidFill>
                  <a:srgbClr val="0B1F3A"/>
                </a:solidFill>
              </a:rPr>
              <a:t>Per-question log (run_log.jsonl): answer, source, raw output, top passage</a:t>
            </a:r>
          </a:p>
          <a:p>
            <a:pPr/>
            <a:r>
              <a:rPr sz="1800">
                <a:solidFill>
                  <a:srgbClr val="0B1F3A"/>
                </a:solidFill>
              </a:rPr>
              <a:t>Runs on a laptop (tested on Apple M1, 8 GB RAM) — no GPU cluster, no API key</a:t>
            </a:r>
          </a:p>
          <a:p>
            <a:pPr/>
          </a:p>
          <a:p>
            <a:pPr/>
            <a:r>
              <a:rPr sz="1800">
                <a:solidFill>
                  <a:srgbClr val="0B1F3A"/>
                </a:solidFill>
              </a:rPr>
              <a:t>Key design choices</a:t>
            </a:r>
          </a:p>
          <a:p>
            <a:pPr lvl="1"/>
            <a:r>
              <a:rPr sz="1800">
                <a:solidFill>
                  <a:srgbClr val="0B1F3A"/>
                </a:solidFill>
              </a:rPr>
              <a:t>Wikipedia-first retrieval matches the source of the questions</a:t>
            </a:r>
          </a:p>
          <a:p>
            <a:pPr lvl="1"/>
            <a:r>
              <a:rPr sz="1800">
                <a:solidFill>
                  <a:srgbClr val="0B1F3A"/>
                </a:solidFill>
              </a:rPr>
              <a:t>Title-match boost fixes entity confusion (e.g. US Route 11 vs US Route 319)</a:t>
            </a:r>
          </a:p>
          <a:p>
            <a:pPr lvl="1"/>
            <a:r>
              <a:rPr sz="1800">
                <a:solidFill>
                  <a:srgbClr val="0B1F3A"/>
                </a:solidFill>
              </a:rPr>
              <a:t>Prompt cautions on exact numbers/units to avoid distractor traps</a:t>
            </a:r>
          </a:p>
          <a:p>
            <a:pPr/>
            <a:r>
              <a:rPr sz="1800">
                <a:solidFill>
                  <a:srgbClr val="0B1F3A"/>
                </a:solidFill>
              </a:rPr>
              <a:t>Run:  ollama pull qwen2.5:7b  &amp;&amp;  python3 src/run.py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